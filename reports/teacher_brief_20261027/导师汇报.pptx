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RESEARCH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迭代合成数学数据中的验证器可靠性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100" y="2273300"/>
            <a:ext cx="11087100" cy="3098800"/>
          </a:xfrm>
          <a:prstGeom prst="roundRect">
            <a:avLst>
              <a:gd name="adj" fmla="val 12000"/>
            </a:avLst>
          </a:prstGeom>
          <a:solidFill>
            <a:srgbClr val="1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300" y="2641600"/>
            <a:ext cx="10350500" cy="749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Microsoft YaHei"/>
                <a:ea typeface="Microsoft YaHei"/>
              </a:rPr>
              <a:t>跨轮漂移 · 前缀敏感性 · 修复探索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619500"/>
            <a:ext cx="101727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5E5EC"/>
                </a:solidFill>
                <a:latin typeface="Microsoft YaHei"/>
                <a:ea typeface="Microsoft YaHei"/>
              </a:rPr>
              <a:t>从固定V的迭代实验出发，追踪表述变化怎样影响判断，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5E5EC"/>
                </a:solidFill>
                <a:latin typeface="Microsoft YaHei"/>
                <a:ea typeface="Microsoft YaHei"/>
              </a:rPr>
              <a:t>再检验修复旧错误与保留原有能力的取舍。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27700"/>
            <a:ext cx="1104900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47887"/>
                </a:solidFill>
                <a:latin typeface="Microsoft YaHei"/>
                <a:ea typeface="Microsoft YaHei"/>
              </a:rPr>
              <a:t>2026.10.20—10.27｜七天流程与后续补充｜导师交流材料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01 / 研究概览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已完成一条“观察—诊断—修复”的研究链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100" y="2006600"/>
            <a:ext cx="3517900" cy="33401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6100" y="2006600"/>
            <a:ext cx="50800" cy="33401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700" y="2171700"/>
            <a:ext cx="30734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7E8B"/>
                </a:solidFill>
                <a:latin typeface="Microsoft YaHei"/>
                <a:ea typeface="Microsoft YaHei"/>
              </a:rPr>
              <a:t>跨轮可靠性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700" y="2628900"/>
            <a:ext cx="307340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85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22D45"/>
                </a:solidFill>
                <a:latin typeface="Microsoft YaHei"/>
                <a:ea typeface="Microsoft YaHei"/>
              </a:rPr>
              <a:t>−3.24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700" y="3543300"/>
            <a:ext cx="3073400" cy="167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T299：G0→G2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固定V0的BA下降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95% CI [−6.06,−0.39]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2600" y="2006600"/>
            <a:ext cx="3517900" cy="33401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2600" y="2006600"/>
            <a:ext cx="50800" cy="3340100"/>
          </a:xfrm>
          <a:prstGeom prst="rect">
            <a:avLst/>
          </a:prstGeom>
          <a:solidFill>
            <a:srgbClr val="B74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1200" y="2171700"/>
            <a:ext cx="30734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74F45"/>
                </a:solidFill>
                <a:latin typeface="Microsoft YaHei"/>
                <a:ea typeface="Microsoft YaHei"/>
              </a:rPr>
              <a:t>表述敏感性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200" y="2628900"/>
            <a:ext cx="307340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85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22D45"/>
                </a:solidFill>
                <a:latin typeface="Microsoft YaHei"/>
                <a:ea typeface="Microsoft YaHei"/>
              </a:rPr>
              <a:t>+10.55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200" y="3543300"/>
            <a:ext cx="3073400" cy="167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C95/G3：we can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提高FPR，同时降低FNR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数学正文与答案不变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100" y="2006600"/>
            <a:ext cx="3594100" cy="33401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9100" y="2006600"/>
            <a:ext cx="50800" cy="3340100"/>
          </a:xfrm>
          <a:prstGeom prst="rect">
            <a:avLst/>
          </a:prstGeom>
          <a:solidFill>
            <a:srgbClr val="D5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7700" y="2171700"/>
            <a:ext cx="3149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59A42"/>
                </a:solidFill>
                <a:latin typeface="Microsoft YaHei"/>
                <a:ea typeface="Microsoft YaHei"/>
              </a:rPr>
              <a:t>修复与代价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7700" y="2628900"/>
            <a:ext cx="314960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85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22D45"/>
                </a:solidFill>
                <a:latin typeface="Microsoft YaHei"/>
                <a:ea typeface="Microsoft YaHei"/>
              </a:rPr>
              <a:t>+5 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7700" y="3543300"/>
            <a:ext cx="3149600" cy="167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E60/G3/we can：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DPO两组均净修复5条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同时新增7或8个FN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6100" y="5600700"/>
            <a:ext cx="11087100" cy="647700"/>
          </a:xfrm>
          <a:prstGeom prst="roundRect">
            <a:avLst>
              <a:gd name="adj" fmla="val 12000"/>
            </a:avLst>
          </a:prstGeom>
          <a:solidFill>
            <a:srgbClr val="E7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600" y="5727700"/>
            <a:ext cx="107061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D45"/>
                </a:solidFill>
                <a:latin typeface="Microsoft YaHei"/>
                <a:ea typeface="Microsoft YaHei"/>
              </a:rPr>
              <a:t>研究焦点：既看是否修好了错误，也看是否破坏了原本正确的判断。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02 / 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固定V不变，回答分布会随G更新而变化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46200"/>
            <a:ext cx="11049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887"/>
                </a:solidFill>
                <a:latin typeface="Microsoft YaHei"/>
                <a:ea typeface="Microsoft YaHei"/>
              </a:rPr>
              <a:t>三个问题：跨轮是否稳定？表述是否影响判断？更新V怎样衡量得失？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03</a:t>
            </a:r>
          </a:p>
        </p:txBody>
      </p:sp>
      <p:pic>
        <p:nvPicPr>
          <p:cNvPr id="10" name="Picture 9" descr="researc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05" y="2120900"/>
            <a:ext cx="10778688" cy="20955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8800" y="4445000"/>
            <a:ext cx="11074400" cy="9652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400" y="4635500"/>
            <a:ext cx="106172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74B"/>
                </a:solidFill>
                <a:latin typeface="Microsoft YaHei"/>
                <a:ea typeface="Microsoft YaHei"/>
              </a:rPr>
              <a:t>G0是原始模型；G1/G2/G3依次更新1/2/3次。</a:t>
            </a: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74B"/>
                </a:solidFill>
                <a:latin typeface="Microsoft YaHei"/>
                <a:ea typeface="Microsoft YaHei"/>
              </a:rPr>
              <a:t>A/B/C/T是题池；每个G阶段可以在多个题池上生成与评价。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6100" y="5600700"/>
            <a:ext cx="11087100" cy="647700"/>
          </a:xfrm>
          <a:prstGeom prst="roundRect">
            <a:avLst>
              <a:gd name="adj" fmla="val 12000"/>
            </a:avLst>
          </a:prstGeom>
          <a:solidFill>
            <a:srgbClr val="E7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600" y="5727700"/>
            <a:ext cx="107061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D45"/>
                </a:solidFill>
                <a:latin typeface="Microsoft YaHei"/>
                <a:ea typeface="Microsoft YaHei"/>
              </a:rPr>
              <a:t>主线固定V0更新G；修复实验另从V0开分支，保留原始轨迹与缓存。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03 / 工作进展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原七天核心流程完成，后续围绕现象补对照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" y="1905000"/>
            <a:ext cx="11087100" cy="457200"/>
          </a:xfrm>
          <a:prstGeom prst="rect">
            <a:avLst/>
          </a:prstGeom>
          <a:solidFill>
            <a:srgbClr val="1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100" y="2019300"/>
            <a:ext cx="10795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1200" y="2019300"/>
            <a:ext cx="20701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主题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900" y="2019300"/>
            <a:ext cx="72517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完成内容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100" y="2362200"/>
            <a:ext cx="11087100" cy="4572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100" y="2463800"/>
            <a:ext cx="1079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Day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1200" y="2463800"/>
            <a:ext cx="20701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环境与初测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900" y="2463800"/>
            <a:ext cx="72517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模型部署、镜像测速、生成/评分/训练冒烟检查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6100" y="2819400"/>
            <a:ext cx="110871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100" y="2921000"/>
            <a:ext cx="1079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1200" y="2921000"/>
            <a:ext cx="20701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解析与任务诊断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900" y="2921000"/>
            <a:ext cx="72517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GSM8K / MATH自然错误覆盖比较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6100" y="3276600"/>
            <a:ext cx="11087100" cy="4572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100" y="3378200"/>
            <a:ext cx="1079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Day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1200" y="3378200"/>
            <a:ext cx="20701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冻结DAPO协议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900" y="3378200"/>
            <a:ext cx="72517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坏题、长度、标签、题池与工作点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100" y="3733800"/>
            <a:ext cx="110871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100" y="3835400"/>
            <a:ext cx="1079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Day 4—5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1200" y="3835400"/>
            <a:ext cx="20701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固定V0更新G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900" y="3835400"/>
            <a:ext cx="72517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G0→G1→G2；G3为后续扩展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6100" y="4191000"/>
            <a:ext cx="11087100" cy="4572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100" y="4292600"/>
            <a:ext cx="1079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配套对照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81200" y="4292600"/>
            <a:ext cx="20701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监督质量与缓存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900" y="4292600"/>
            <a:ext cx="72517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Vmatched / Oracle / Random、逐题监督权重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6100" y="4648200"/>
            <a:ext cx="110871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100" y="4749800"/>
            <a:ext cx="1079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Day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1200" y="4749800"/>
            <a:ext cx="20701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更新V的原对照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900" y="4749800"/>
            <a:ext cx="72517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Vrand / Vtarget，记录接受偏移与负结果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6100" y="5105400"/>
            <a:ext cx="11087100" cy="4572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3100" y="5207000"/>
            <a:ext cx="1079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Day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81200" y="5207000"/>
            <a:ext cx="20701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T留出评价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9900" y="5207000"/>
            <a:ext cx="72517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T299统一引擎、混淆矩阵、区间与案例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6100" y="5562600"/>
            <a:ext cx="110871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3100" y="5664200"/>
            <a:ext cx="10795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后续补充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81200" y="5664200"/>
            <a:ext cx="20701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前缀诊断与修复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9900" y="5664200"/>
            <a:ext cx="72517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374B"/>
                </a:solidFill>
                <a:latin typeface="Microsoft YaHei"/>
                <a:ea typeface="Microsoft YaHei"/>
              </a:rPr>
              <a:t>内容保持干预、机制对照、SFT × DPO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04 / 模型、数据与指标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用有独立答案标签的数学任务研究V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46200"/>
            <a:ext cx="11049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887"/>
                </a:solidFill>
                <a:latin typeface="Microsoft YaHei"/>
                <a:ea typeface="Microsoft YaHei"/>
              </a:rPr>
              <a:t>G：Qwen2.5-Math-1.5B-Instruct　｜　V0：Qwen3-4B-Instruct-2507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100" y="1981200"/>
            <a:ext cx="11087100" cy="533400"/>
          </a:xfrm>
          <a:prstGeom prst="rect">
            <a:avLst/>
          </a:prstGeom>
          <a:solidFill>
            <a:srgbClr val="1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100" y="2095500"/>
            <a:ext cx="6096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1300" y="2095500"/>
            <a:ext cx="10033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主分析题数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95500"/>
            <a:ext cx="21590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0800" y="2095500"/>
            <a:ext cx="64008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说明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100" y="2514600"/>
            <a:ext cx="11087100" cy="5334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100" y="2616200"/>
            <a:ext cx="6096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1300" y="2616200"/>
            <a:ext cx="10033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616200"/>
            <a:ext cx="2159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G反馈训练题池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0800" y="2616200"/>
            <a:ext cx="64008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生成4候选，V0筛选后每题至多1条更新G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100" y="3048000"/>
            <a:ext cx="110871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100" y="3149600"/>
            <a:ext cx="6096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1300" y="3149600"/>
            <a:ext cx="10033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149600"/>
            <a:ext cx="2159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V训练题池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0800" y="3149600"/>
            <a:ext cx="64008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G监督选样不使用B回答；新修复训练取其中64题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100" y="3581400"/>
            <a:ext cx="11087100" cy="5334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100" y="3683000"/>
            <a:ext cx="6096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1300" y="3683000"/>
            <a:ext cx="10033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683000"/>
            <a:ext cx="2159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开发与前缀诊断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0800" y="3683000"/>
            <a:ext cx="64008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初排4题后96，后续再隔离1道参考疑问题，主分析95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6100" y="4114800"/>
            <a:ext cx="110871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3100" y="4216400"/>
            <a:ext cx="6096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1300" y="4216400"/>
            <a:ext cx="10033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299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216400"/>
            <a:ext cx="2159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七天流程最终留出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0800" y="4216400"/>
            <a:ext cx="64008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所有G/V整题排除1道缺图题；每G1196回答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6100" y="4648200"/>
            <a:ext cx="11087100" cy="5334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3100" y="4749800"/>
            <a:ext cx="6096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1300" y="4749800"/>
            <a:ext cx="10033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749800"/>
            <a:ext cx="21590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新V修复评价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0800" y="4749800"/>
            <a:ext cx="64008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74B"/>
                </a:solidFill>
                <a:latin typeface="Microsoft YaHei"/>
                <a:ea typeface="Microsoft YaHei"/>
              </a:rPr>
              <a:t>所有G/V/前缀整题隔离4题；每G240回答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8800" y="5384800"/>
            <a:ext cx="1107440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D45"/>
                </a:solidFill>
                <a:latin typeface="Microsoft YaHei"/>
                <a:ea typeface="Microsoft YaHei"/>
              </a:rPr>
              <a:t>FPR：错误回答中被接受的比例　　FNR：正确回答中被拒绝的比例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D45"/>
                </a:solidFill>
                <a:latin typeface="Microsoft YaHei"/>
                <a:ea typeface="Microsoft YaHei"/>
              </a:rPr>
              <a:t>BA = 1−(FPR+FNR)/2；每题4候选，未知单列，完整回答输入V。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05 / 固定V0的反馈训练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G更新使用了怎样的监督？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46200"/>
            <a:ext cx="11049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887"/>
                </a:solidFill>
                <a:latin typeface="Microsoft YaHei"/>
                <a:ea typeface="Microsoft YaHei"/>
              </a:rPr>
              <a:t>A池4候选 → V0接受 → 每题至多随机1条 → 最多512条 / 1 epoch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100" y="2057400"/>
            <a:ext cx="11087100" cy="685800"/>
          </a:xfrm>
          <a:prstGeom prst="rect">
            <a:avLst/>
          </a:prstGeom>
          <a:solidFill>
            <a:srgbClr val="1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100" y="2171700"/>
            <a:ext cx="8509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2600" y="2171700"/>
            <a:ext cx="1117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8800" y="2171700"/>
            <a:ext cx="23368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正确/错误/未知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4200" y="2171700"/>
            <a:ext cx="17907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有标签错误率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3500" y="2171700"/>
            <a:ext cx="22733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回答监督token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5400" y="2171700"/>
            <a:ext cx="13462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步数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6100" y="2743200"/>
            <a:ext cx="11087100" cy="6858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100" y="2844800"/>
            <a:ext cx="8509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G1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2600" y="2844800"/>
            <a:ext cx="11176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8800" y="2844800"/>
            <a:ext cx="23368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223/259/18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4200" y="2844800"/>
            <a:ext cx="17907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53.73%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3500" y="2844800"/>
            <a:ext cx="2273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414,830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5400" y="2844800"/>
            <a:ext cx="13462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63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100" y="3429000"/>
            <a:ext cx="11087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100" y="3530600"/>
            <a:ext cx="8509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G2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2600" y="3530600"/>
            <a:ext cx="11176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501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8800" y="3530600"/>
            <a:ext cx="23368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229/259/13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4200" y="3530600"/>
            <a:ext cx="17907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53.07%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3500" y="3530600"/>
            <a:ext cx="2273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419,895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5400" y="3530600"/>
            <a:ext cx="13462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63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6100" y="4114800"/>
            <a:ext cx="11087100" cy="6858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100" y="4216400"/>
            <a:ext cx="8509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G3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2600" y="4216400"/>
            <a:ext cx="11176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511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8800" y="4216400"/>
            <a:ext cx="23368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226/266/19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4200" y="4216400"/>
            <a:ext cx="17907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54.07%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3500" y="4216400"/>
            <a:ext cx="2273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414,590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5400" y="4216400"/>
            <a:ext cx="13462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4965700"/>
            <a:ext cx="11036300" cy="546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74B"/>
                </a:solidFill>
                <a:latin typeface="Microsoft YaHei"/>
                <a:ea typeface="Microsoft YaHei"/>
              </a:rPr>
              <a:t>独立标签在选样后记录质量；主路线不按标准答案过滤。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6100" y="5600700"/>
            <a:ext cx="11087100" cy="647700"/>
          </a:xfrm>
          <a:prstGeom prst="roundRect">
            <a:avLst>
              <a:gd name="adj" fmla="val 12000"/>
            </a:avLst>
          </a:prstGeom>
          <a:solidFill>
            <a:srgbClr val="E7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600" y="5727700"/>
            <a:ext cx="107061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D45"/>
                </a:solidFill>
                <a:latin typeface="Microsoft YaHei"/>
                <a:ea typeface="Microsoft YaHei"/>
              </a:rPr>
              <a:t>训练数据含较多错误：这是含噪验证反馈下的更新，G正确率需独立评价。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06 / 七天主结果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T留出集上，固定V0的可靠性下降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46200"/>
            <a:ext cx="11049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887"/>
                </a:solidFill>
                <a:latin typeface="Microsoft YaHei"/>
                <a:ea typeface="Microsoft YaHei"/>
              </a:rPr>
              <a:t>T299 × 每题4回答；四个G统一vLLM评价；G3为扩展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来源：week_final_20261026｜T299｜按题配对bootstrap 10,000次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07</a:t>
            </a:r>
          </a:p>
        </p:txBody>
      </p:sp>
      <p:pic>
        <p:nvPicPr>
          <p:cNvPr id="10" name="Picture 9" descr="T_cross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53" y="1981200"/>
            <a:ext cx="10444792" cy="3276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346700"/>
            <a:ext cx="10998200" cy="8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D45"/>
                </a:solidFill>
                <a:latin typeface="Microsoft YaHei"/>
                <a:ea typeface="Microsoft YaHei"/>
              </a:rPr>
              <a:t>G正确率约40%；G0→G2：BA −3.24pp，95% CI [−6.06,−0.39]。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D45"/>
                </a:solidFill>
                <a:latin typeface="Microsoft YaHei"/>
                <a:ea typeface="Microsoft YaHei"/>
              </a:rPr>
              <a:t>FNR +3.65pp；FPR +2.82pp，后者区间跨0。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07 / ORACLE、VMATCHED与RANDOM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更可靠的监督，还未转化成明确的G优势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46200"/>
            <a:ext cx="11049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887"/>
                </a:solidFill>
                <a:latin typeface="Microsoft YaHei"/>
                <a:ea typeface="Microsoft YaHei"/>
              </a:rPr>
              <a:t>同G0初始化、共同289道A题、37步；监督预算约22.5万回答token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100" y="2006600"/>
            <a:ext cx="11087100" cy="609600"/>
          </a:xfrm>
          <a:prstGeom prst="rect">
            <a:avLst/>
          </a:prstGeom>
          <a:solidFill>
            <a:srgbClr val="1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100" y="2120900"/>
            <a:ext cx="208280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分支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4500" y="2120900"/>
            <a:ext cx="269240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入训正确/错误/未知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0" y="2120900"/>
            <a:ext cx="166370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G正确率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7800" y="2120900"/>
            <a:ext cx="175260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V0 FPR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9000" y="2120900"/>
            <a:ext cx="175260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V0 FNR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6100" y="2616200"/>
            <a:ext cx="11087100" cy="6096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100" y="2717800"/>
            <a:ext cx="20828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G0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4500" y="2717800"/>
            <a:ext cx="26924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0" y="2717800"/>
            <a:ext cx="16637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42.54%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7800" y="2717800"/>
            <a:ext cx="17526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54.81%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9000" y="2717800"/>
            <a:ext cx="17526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14.94%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100" y="3225800"/>
            <a:ext cx="110871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100" y="3327400"/>
            <a:ext cx="20828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Random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4500" y="3327400"/>
            <a:ext cx="26924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198/80/11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0" y="3327400"/>
            <a:ext cx="16637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40.56%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7800" y="3327400"/>
            <a:ext cx="17526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43.93%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9000" y="3327400"/>
            <a:ext cx="17526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12.33%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100" y="3835400"/>
            <a:ext cx="11087100" cy="6096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100" y="3937000"/>
            <a:ext cx="20828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Vmatched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84500" y="3937000"/>
            <a:ext cx="26924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223/63/3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5500" y="3937000"/>
            <a:ext cx="16637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38.74%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7800" y="3937000"/>
            <a:ext cx="17526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52.91%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79000" y="3937000"/>
            <a:ext cx="17526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17.02%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100" y="4445000"/>
            <a:ext cx="110871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3100" y="4546600"/>
            <a:ext cx="20828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Oracle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84500" y="4546600"/>
            <a:ext cx="26924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289/0/0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5500" y="4546600"/>
            <a:ext cx="16637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40.17%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7800" y="4546600"/>
            <a:ext cx="17526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53.99%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79000" y="4546600"/>
            <a:ext cx="17526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13.99%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5295900"/>
            <a:ext cx="110109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C95上，三组未检出明确的G正确率优势；Random输出的FPR更低。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缓存审计提示：错误可识别性与逐题监督权重值得进一步分析。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08 / 前缀问题的提出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从“什么变化了”转向可控的文本干预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46200"/>
            <a:ext cx="11049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887"/>
                </a:solidFill>
                <a:latin typeface="Microsoft YaHei"/>
                <a:ea typeface="Microsoft YaHei"/>
              </a:rPr>
              <a:t>由自然输出中的误判出发，检验常见表达能否改变验证器决定。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6100" y="1993900"/>
            <a:ext cx="5321300" cy="25273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1400" y="1993900"/>
            <a:ext cx="5511800" cy="2527300"/>
          </a:xfrm>
          <a:prstGeom prst="roundRect">
            <a:avLst>
              <a:gd name="adj" fmla="val 12000"/>
            </a:avLst>
          </a:prstGeom>
          <a:solidFill>
            <a:srgbClr val="E7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400" y="2247900"/>
            <a:ext cx="4826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E8B"/>
                </a:solidFill>
                <a:latin typeface="Microsoft YaHei"/>
                <a:ea typeface="Microsoft YaHei"/>
              </a:rPr>
              <a:t>原始输入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2832100"/>
            <a:ext cx="4813300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2D45"/>
                </a:solidFill>
                <a:latin typeface="Microsoft YaHei"/>
                <a:ea typeface="Microsoft YaHei"/>
              </a:rPr>
              <a:t>同一题目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2D45"/>
                </a:solidFill>
                <a:latin typeface="Microsoft YaHei"/>
                <a:ea typeface="Microsoft YaHei"/>
              </a:rPr>
              <a:t>完整数学解答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2D45"/>
                </a:solidFill>
                <a:latin typeface="Microsoft YaHei"/>
                <a:ea typeface="Microsoft YaHei"/>
              </a:rPr>
              <a:t>最终答案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5400" y="2247900"/>
            <a:ext cx="49911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E8B"/>
                </a:solidFill>
                <a:latin typeface="Microsoft YaHei"/>
                <a:ea typeface="Microsoft YaHei"/>
              </a:rPr>
              <a:t>干预输入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5400" y="2819400"/>
            <a:ext cx="4953000" cy="140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2D45"/>
                </a:solidFill>
                <a:latin typeface="Microsoft YaHei"/>
                <a:ea typeface="Microsoft YaHei"/>
              </a:rPr>
              <a:t>同一题目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2D45"/>
                </a:solidFill>
                <a:latin typeface="Microsoft YaHei"/>
                <a:ea typeface="Microsoft YaHei"/>
              </a:rPr>
              <a:t>we can + 原完整解答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2D45"/>
                </a:solidFill>
                <a:latin typeface="Microsoft YaHei"/>
                <a:ea typeface="Microsoft YaHei"/>
              </a:rPr>
              <a:t>相同最终答案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4813300"/>
            <a:ext cx="1102360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74B"/>
                </a:solidFill>
                <a:latin typeface="Microsoft YaHei"/>
                <a:ea typeface="Microsoft YaHei"/>
              </a:rPr>
              <a:t>先确认原TN能否翻转，再补齐全部错误与正确回答，</a:t>
            </a: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74B"/>
                </a:solidFill>
                <a:latin typeface="Microsoft YaHei"/>
                <a:ea typeface="Microsoft YaHei"/>
              </a:rPr>
              <a:t>同时记录两方向决定变化与连续分数。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6100" y="5600700"/>
            <a:ext cx="11087100" cy="647700"/>
          </a:xfrm>
          <a:prstGeom prst="roundRect">
            <a:avLst>
              <a:gd name="adj" fmla="val 12000"/>
            </a:avLst>
          </a:prstGeom>
          <a:solidFill>
            <a:srgbClr val="E7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600" y="5727700"/>
            <a:ext cx="107061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D45"/>
                </a:solidFill>
                <a:latin typeface="Microsoft YaHei"/>
                <a:ea typeface="Microsoft YaHei"/>
              </a:rPr>
              <a:t>数学正文与独立正确性标签保持不变，变化来自指定的表述干预。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09 / 完整前缀面板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部分前缀使V更愿接受：FPR升、FNR降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46200"/>
            <a:ext cx="11049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887"/>
                </a:solidFill>
                <a:latin typeface="Microsoft YaHei"/>
                <a:ea typeface="Microsoft YaHei"/>
              </a:rPr>
              <a:t>C95/G3：380回答 = 正确147 + 错误218 + 未知15；8设置，3,040逻辑评分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来源：prefix_full_panel_20261026｜固定V0、提示、A/B评分与0.5阈值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10</a:t>
            </a:r>
          </a:p>
        </p:txBody>
      </p:sp>
      <p:pic>
        <p:nvPicPr>
          <p:cNvPr id="10" name="Picture 9" descr="prefix_full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814" y="1905000"/>
            <a:ext cx="9643170" cy="3632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6100" y="5638800"/>
            <a:ext cx="11087100" cy="647700"/>
          </a:xfrm>
          <a:prstGeom prst="roundRect">
            <a:avLst>
              <a:gd name="adj" fmla="val 12000"/>
            </a:avLst>
          </a:prstGeom>
          <a:solidFill>
            <a:srgbClr val="E7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5765800"/>
            <a:ext cx="107061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D45"/>
                </a:solidFill>
                <a:latin typeface="Microsoft YaHei"/>
                <a:ea typeface="Microsoft YaHei"/>
              </a:rPr>
              <a:t>we can：23个TN→FP；10个FN→TP、1个TP→FN。影响同时涉及两类回答。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10 / 机制诊断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用系列对照逐步收束解释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" y="1968500"/>
            <a:ext cx="11087100" cy="571500"/>
          </a:xfrm>
          <a:prstGeom prst="rect">
            <a:avLst/>
          </a:prstGeom>
          <a:solidFill>
            <a:srgbClr val="1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100" y="2082800"/>
            <a:ext cx="1930400" cy="44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2100" y="2082800"/>
            <a:ext cx="3429000" cy="44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做了什么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9700" y="2082800"/>
            <a:ext cx="5041900" cy="44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得到什么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100" y="2540000"/>
            <a:ext cx="11087100" cy="5715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100" y="2641600"/>
            <a:ext cx="19304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词汇学术性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2100" y="2641600"/>
            <a:ext cx="3429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20对AWL内外词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700" y="2641600"/>
            <a:ext cx="50419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未显示AWL优势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6100" y="3111500"/>
            <a:ext cx="11087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100" y="3213100"/>
            <a:ext cx="19304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前缀长度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2100" y="3213100"/>
            <a:ext cx="3429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字符、词数、token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700" y="3213100"/>
            <a:ext cx="50419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纯长度不足以概括效果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6100" y="3683000"/>
            <a:ext cx="11087100" cy="5715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100" y="3784600"/>
            <a:ext cx="19304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输入题型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2100" y="3784600"/>
            <a:ext cx="3429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题型/符号条件FPR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9700" y="3784600"/>
            <a:ext cx="50419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未定位独有退化题型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100" y="4254500"/>
            <a:ext cx="11087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100" y="4356100"/>
            <a:ext cx="19304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训练链表达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2100" y="4356100"/>
            <a:ext cx="3429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候选→接受→SFT→输出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9700" y="4356100"/>
            <a:ext cx="50419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未见一致富集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6100" y="4826000"/>
            <a:ext cx="11087100" cy="5715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100" y="4927600"/>
            <a:ext cx="19304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自然删除/替换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2100" y="4927600"/>
            <a:ext cx="3429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同引擎G2/G3对称编辑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9700" y="4927600"/>
            <a:ext cx="50419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主要跨轮差距仍保留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6100" y="5397500"/>
            <a:ext cx="110871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100" y="5499100"/>
            <a:ext cx="19304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四阶段同前缀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2100" y="5499100"/>
            <a:ext cx="3429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同题G0—G3、21设置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9700" y="5499100"/>
            <a:ext cx="50419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未见一致单调上涨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11 / 自然表达与跨轮变化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局部漏洞，与自然跨轮差距分别验证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46200"/>
            <a:ext cx="11049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887"/>
                </a:solidFill>
                <a:latin typeface="Microsoft YaHei"/>
                <a:ea typeface="Microsoft YaHei"/>
              </a:rPr>
              <a:t>A598，同vLLM引擎的G2/G3；改掉自然开场后重新评分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12</a:t>
            </a:r>
          </a:p>
        </p:txBody>
      </p:sp>
      <p:pic>
        <p:nvPicPr>
          <p:cNvPr id="10" name="Picture 9" descr="natural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61253"/>
            <a:ext cx="6985000" cy="292919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23200" y="2184400"/>
            <a:ext cx="3810000" cy="30734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7200" y="2438400"/>
            <a:ext cx="33147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E8B"/>
                </a:solidFill>
                <a:latin typeface="Microsoft YaHei"/>
                <a:ea typeface="Microsoft YaHei"/>
              </a:rPr>
              <a:t>主要差距仍保留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7200" y="3136900"/>
            <a:ext cx="3302000" cy="182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原差距 7.69pp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删除后 7.12pp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替换后 6.90pp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继续研究更广的回答与错误组成。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100" y="5600700"/>
            <a:ext cx="11087100" cy="647700"/>
          </a:xfrm>
          <a:prstGeom prst="roundRect">
            <a:avLst>
              <a:gd name="adj" fmla="val 12000"/>
            </a:avLst>
          </a:prstGeom>
          <a:solidFill>
            <a:srgbClr val="E7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600" y="5727700"/>
            <a:ext cx="107061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D45"/>
                </a:solidFill>
                <a:latin typeface="Microsoft YaHei"/>
                <a:ea typeface="Microsoft YaHei"/>
              </a:rPr>
              <a:t>可触发的局部误判已确认；自然漂移还需要更广的机制解释。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12 / 研究增量与方法来源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本人的研究切入与项目贡献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100" y="1968500"/>
            <a:ext cx="5397500" cy="34671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968500"/>
            <a:ext cx="5461000" cy="3467100"/>
          </a:xfrm>
          <a:prstGeom prst="roundRect">
            <a:avLst>
              <a:gd name="adj" fmla="val 12000"/>
            </a:avLst>
          </a:prstGeom>
          <a:solidFill>
            <a:srgbClr val="E7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7400" y="2197100"/>
            <a:ext cx="4914900" cy="44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D45"/>
                </a:solidFill>
                <a:latin typeface="Microsoft YaHei"/>
                <a:ea typeface="Microsoft YaHei"/>
              </a:rPr>
              <a:t>本人提出并推进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" y="2882900"/>
            <a:ext cx="4889500" cy="2324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从跨轮误判提出表达敏感性假设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设计近义、AWL、长度、自然编辑对照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同时跟踪FP、FN与新增错误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将局部干预联系到真实SFT轨迹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6200" y="2197100"/>
            <a:ext cx="4927600" cy="44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D45"/>
                </a:solidFill>
                <a:latin typeface="Microsoft YaHei"/>
                <a:ea typeface="Microsoft YaHei"/>
              </a:rPr>
              <a:t>借鉴并清楚引用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6200" y="2882900"/>
            <a:ext cx="4902200" cy="23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评审偏差：MT-Bench、BITE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短字符串与监督加固：AdvJudge-Zero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偏好优化目标：标准DPO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74B"/>
                </a:solidFill>
                <a:latin typeface="Microsoft YaHei"/>
                <a:ea typeface="Microsoft YaHei"/>
              </a:rPr>
              <a:t>工程、缓存与图表：工具辅助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" y="5600700"/>
            <a:ext cx="11087100" cy="647700"/>
          </a:xfrm>
          <a:prstGeom prst="roundRect">
            <a:avLst>
              <a:gd name="adj" fmla="val 12000"/>
            </a:avLst>
          </a:prstGeom>
          <a:solidFill>
            <a:srgbClr val="E7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600" y="5727700"/>
            <a:ext cx="107061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D45"/>
                </a:solidFill>
                <a:latin typeface="Microsoft YaHei"/>
                <a:ea typeface="Microsoft YaHei"/>
              </a:rPr>
              <a:t>贡献定位：具体问题与对照设计、完整回答数据，以及跨轮和修复损伤的分析。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13 / 验证器修复设计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从V0独立开始：SFT × DPO × 前缀增强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46200"/>
            <a:ext cx="11049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887"/>
                </a:solidFill>
                <a:latin typeface="Microsoft YaHei"/>
                <a:ea typeface="Microsoft YaHei"/>
              </a:rPr>
              <a:t>B/G0：64题、128完整回答、正负各64；每组640次呈现、80步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100" y="2006600"/>
            <a:ext cx="11087100" cy="596900"/>
          </a:xfrm>
          <a:prstGeom prst="rect">
            <a:avLst/>
          </a:prstGeom>
          <a:solidFill>
            <a:srgbClr val="12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100" y="2120900"/>
            <a:ext cx="19812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分支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2900" y="2120900"/>
            <a:ext cx="4318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输入构造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0" y="2120900"/>
            <a:ext cx="41021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只学习判断标签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100" y="2603500"/>
            <a:ext cx="11087100" cy="5969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100" y="2705100"/>
            <a:ext cx="19812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SFT_clean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2900" y="2705100"/>
            <a:ext cx="43180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原文 ×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0" y="2705100"/>
            <a:ext cx="41021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正确A/B的交叉熵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6100" y="3200400"/>
            <a:ext cx="110871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100" y="3302000"/>
            <a:ext cx="19812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SFT_aug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2900" y="3302000"/>
            <a:ext cx="43180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原文 + 4前缀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0" y="3302000"/>
            <a:ext cx="41021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同前缀覆盖正确与错误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100" y="3797300"/>
            <a:ext cx="11087100" cy="5969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100" y="3898900"/>
            <a:ext cx="19812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DPO_clean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2900" y="3898900"/>
            <a:ext cx="43180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原文 ×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0" y="3898900"/>
            <a:ext cx="41021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正确标签chosen，错误标签rejected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6100" y="4394200"/>
            <a:ext cx="110871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100" y="4495800"/>
            <a:ext cx="19812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DPO_aug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2900" y="4495800"/>
            <a:ext cx="43180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原文 + 4前缀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0" y="4495800"/>
            <a:ext cx="41021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74B"/>
                </a:solidFill>
                <a:latin typeface="Microsoft YaHei"/>
                <a:ea typeface="Microsoft YaHei"/>
              </a:rPr>
              <a:t>同上，参考模型为冻结V0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5207000"/>
            <a:ext cx="11010900" cy="927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原Vrand/Vtarget曾出现过强接受倾向；本轮仅监督1个A/B token。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LoRA r8 / alpha16，LR 2e−5；不训练G正文，0.5阈值保持。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14 / 新题修复结果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DPO修复部分FP，也新增FN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46200"/>
            <a:ext cx="11049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887"/>
                </a:solidFill>
                <a:latin typeface="Microsoft YaHei"/>
                <a:ea typeface="Microsoft YaHei"/>
              </a:rPr>
              <a:t>E60/G3/we can：240回答，已知220、未知20；均相对同一输入上的V0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来源：verifier_robustness_clean_20261026｜四组从V0独立初始化，原数据和模型保留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15</a:t>
            </a:r>
          </a:p>
        </p:txBody>
      </p:sp>
      <p:pic>
        <p:nvPicPr>
          <p:cNvPr id="10" name="Picture 9" descr="repair_da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532" y="1943100"/>
            <a:ext cx="9087534" cy="3263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2300" y="5283200"/>
            <a:ext cx="109220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D45"/>
                </a:solidFill>
                <a:latin typeface="Microsoft YaHei"/>
                <a:ea typeface="Microsoft YaHei"/>
              </a:rPr>
              <a:t>净修复：SFT_clean −1；SFT_aug −23；DPO两组均 +5。</a:t>
            </a: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D45"/>
                </a:solidFill>
                <a:latin typeface="Microsoft YaHei"/>
                <a:ea typeface="Microsoft YaHei"/>
              </a:rPr>
              <a:t>DPO_aug：FPR 34.11%→24.81%，FNR 8.79%→16.48%。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15 / 如何评价修复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局部修好，与整体净改善是两个层次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100" y="2019300"/>
            <a:ext cx="3517900" cy="32131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6100" y="2019300"/>
            <a:ext cx="50800" cy="32131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700" y="2184400"/>
            <a:ext cx="30734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7E8B"/>
                </a:solidFill>
                <a:latin typeface="Microsoft YaHei"/>
                <a:ea typeface="Microsoft YaHei"/>
              </a:rPr>
              <a:t>局部修复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700" y="2641600"/>
            <a:ext cx="307340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85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22D45"/>
                </a:solidFill>
                <a:latin typeface="Microsoft YaHei"/>
                <a:ea typeface="Microsoft YaHei"/>
              </a:rPr>
              <a:t>7 /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700" y="3556000"/>
            <a:ext cx="3073400" cy="154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两组DPO都修复V0因we can注入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新增的7个FP，且两版本均判对。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2600" y="2019300"/>
            <a:ext cx="3517900" cy="32131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2600" y="2019300"/>
            <a:ext cx="50800" cy="3213100"/>
          </a:xfrm>
          <a:prstGeom prst="rect">
            <a:avLst/>
          </a:prstGeom>
          <a:solidFill>
            <a:srgbClr val="B74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1200" y="2184400"/>
            <a:ext cx="30734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74F45"/>
                </a:solidFill>
                <a:latin typeface="Microsoft YaHei"/>
                <a:ea typeface="Microsoft YaHei"/>
              </a:rPr>
              <a:t>新的问题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200" y="2641600"/>
            <a:ext cx="307340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85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22D45"/>
                </a:solidFill>
                <a:latin typeface="Microsoft YaHei"/>
                <a:ea typeface="Microsoft YaHei"/>
              </a:rPr>
              <a:t>7 /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200" y="3556000"/>
            <a:ext cx="3073400" cy="154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对各自原文再注入，DPO_clean /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aug仍分别新增7 / 3个FP。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100" y="2019300"/>
            <a:ext cx="3594100" cy="32131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9100" y="2019300"/>
            <a:ext cx="50800" cy="3213100"/>
          </a:xfrm>
          <a:prstGeom prst="rect">
            <a:avLst/>
          </a:prstGeom>
          <a:solidFill>
            <a:srgbClr val="D5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7700" y="2184400"/>
            <a:ext cx="3149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59A42"/>
                </a:solidFill>
                <a:latin typeface="Microsoft YaHei"/>
                <a:ea typeface="Microsoft YaHei"/>
              </a:rPr>
              <a:t>增强的净增益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7700" y="2641600"/>
            <a:ext cx="314960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85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22D45"/>
                </a:solidFill>
                <a:latin typeface="Microsoft YaHei"/>
                <a:ea typeface="Microsoft YaHei"/>
              </a:rPr>
              <a:t>0 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7700" y="3556000"/>
            <a:ext cx="3149600" cy="154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DPO_aug−clean主比较净差0；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95%区间为[−1.82,+1.81]pp。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6100" y="5600700"/>
            <a:ext cx="11087100" cy="647700"/>
          </a:xfrm>
          <a:prstGeom prst="roundRect">
            <a:avLst>
              <a:gd name="adj" fmla="val 12000"/>
            </a:avLst>
          </a:prstGeom>
          <a:solidFill>
            <a:srgbClr val="E7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600" y="5727700"/>
            <a:ext cx="107061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D45"/>
                </a:solidFill>
                <a:latin typeface="Microsoft YaHei"/>
                <a:ea typeface="Microsoft YaHei"/>
              </a:rPr>
              <a:t>当前DPO收益主要体现为更保守的判断；下一步需保留正确接受、提高净收益。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16 / 阶段结论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目前已形成什么研究判断？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100" y="1993900"/>
            <a:ext cx="11087100" cy="10922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700" y="2184400"/>
            <a:ext cx="787400" cy="622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87E8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9900" y="2159000"/>
            <a:ext cx="95885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D45"/>
                </a:solidFill>
                <a:latin typeface="Microsoft YaHei"/>
                <a:ea typeface="Microsoft YaHei"/>
              </a:rPr>
              <a:t>固定V面对更新后的G输出，可靠性确实需要重新检验。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9900" y="2590800"/>
            <a:ext cx="95885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887"/>
                </a:solidFill>
                <a:latin typeface="Microsoft YaHei"/>
                <a:ea typeface="Microsoft YaHei"/>
              </a:rPr>
              <a:t>T上BA下降；G正确率未明显提高。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6100" y="3251200"/>
            <a:ext cx="11087100" cy="10922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700" y="3441700"/>
            <a:ext cx="787400" cy="622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87E8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9900" y="3416300"/>
            <a:ext cx="95885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D45"/>
                </a:solidFill>
                <a:latin typeface="Microsoft YaHei"/>
                <a:ea typeface="Microsoft YaHei"/>
              </a:rPr>
              <a:t>一些常见前缀能够改变验证器决定。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9900" y="3848100"/>
            <a:ext cx="95885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887"/>
                </a:solidFill>
                <a:latin typeface="Microsoft YaHei"/>
                <a:ea typeface="Microsoft YaHei"/>
              </a:rPr>
              <a:t>完整面板同时量化误接受增加和误拒减少。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6100" y="4508500"/>
            <a:ext cx="11087100" cy="10922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700" y="4699000"/>
            <a:ext cx="787400" cy="622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87E8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9900" y="4673600"/>
            <a:ext cx="95885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D45"/>
                </a:solidFill>
                <a:latin typeface="Microsoft YaHei"/>
                <a:ea typeface="Microsoft YaHei"/>
              </a:rPr>
              <a:t>简单删除或小规模增强训练都存在取舍。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9900" y="5105400"/>
            <a:ext cx="95885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887"/>
                </a:solidFill>
                <a:latin typeface="Microsoft YaHei"/>
                <a:ea typeface="Microsoft YaHei"/>
              </a:rPr>
              <a:t>应以修复FP/FN与新增FP/FN共同评价。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17 / 后续研究计划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下一步：让判定稳定，同时保持内容区分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100" y="1955800"/>
            <a:ext cx="11087100" cy="1054100"/>
          </a:xfrm>
          <a:prstGeom prst="roundRect">
            <a:avLst>
              <a:gd name="adj" fmla="val 12000"/>
            </a:avLst>
          </a:prstGeom>
          <a:solidFill>
            <a:srgbClr val="E7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2108200"/>
            <a:ext cx="105537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D45"/>
                </a:solidFill>
                <a:latin typeface="Microsoft YaHei"/>
                <a:ea typeface="Microsoft YaHei"/>
              </a:rPr>
              <a:t>工作点与判别能力分开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2565400"/>
            <a:ext cx="105537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比较风险—保留率曲线和相同FNR/保留率；检查是否只是更保守。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100" y="3175000"/>
            <a:ext cx="11087100" cy="10541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7400" y="3327400"/>
            <a:ext cx="105537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D45"/>
                </a:solidFill>
                <a:latin typeface="Microsoft YaHei"/>
                <a:ea typeface="Microsoft YaHei"/>
              </a:rPr>
              <a:t>提高修复数据覆盖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" y="3784600"/>
            <a:ext cx="105537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增加正确接受保持样本；按表达家族留出，跟踪新增FN来源。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" y="4394200"/>
            <a:ext cx="11087100" cy="10541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400" y="4546600"/>
            <a:ext cx="105537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D45"/>
                </a:solidFill>
                <a:latin typeface="Microsoft YaHei"/>
                <a:ea typeface="Microsoft YaHei"/>
              </a:rPr>
              <a:t>复现后进入新一轮反馈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400" y="5003800"/>
            <a:ext cx="105537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少量种子与人工数学核验；冻结配置后新题确认，再将修复V放回G循环。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900" y="5803900"/>
            <a:ext cx="109855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E8B"/>
                </a:solidFill>
                <a:latin typeface="Microsoft YaHei"/>
                <a:ea typeface="Microsoft YaHei"/>
              </a:rPr>
              <a:t>现有基础：可追溯的G/V模型、完整回答、独立标签、连续分数、题池和训练记录。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266700"/>
            <a:ext cx="10160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E8B"/>
                </a:solidFill>
                <a:latin typeface="Microsoft YaHei"/>
                <a:ea typeface="Microsoft YaHei"/>
              </a:rPr>
              <a:t>附录 / 阅读与复现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47700"/>
            <a:ext cx="11112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D45"/>
                </a:solidFill>
                <a:latin typeface="Microsoft YaHei"/>
                <a:ea typeface="Microsoft YaHei"/>
              </a:rPr>
              <a:t>数据口径与代表性文献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6413500"/>
            <a:ext cx="11112500" cy="12700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100" y="6515100"/>
            <a:ext cx="10604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4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887"/>
                </a:solidFill>
                <a:latin typeface="Microsoft YaHei"/>
                <a:ea typeface="Microsoft YaHei"/>
              </a:rPr>
              <a:t>迭代合成数学数据中的验证器可靠性｜阶段汇报 2026.10.27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489700"/>
            <a:ext cx="444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887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917700"/>
            <a:ext cx="11036300" cy="1155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最终答案标签；未知单列；坏题整题隔离；区间按题配对。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C用于开发，T299为七天留出，E60为新修复题池；结果分别呈现。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74B"/>
                </a:solidFill>
                <a:latin typeface="Microsoft YaHei"/>
                <a:ea typeface="Microsoft YaHei"/>
              </a:rPr>
              <a:t>单条G训练轨迹、单种子修复；后续先复现，再扩大。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378200"/>
            <a:ext cx="110236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D45"/>
                </a:solidFill>
                <a:latin typeface="Microsoft YaHei"/>
                <a:ea typeface="Microsoft YaHei"/>
              </a:rPr>
              <a:t>[R1] Zheng et al. (2023)  ·  Judging LLM-as-a-Judge with MT-Bench and Chatbot Arena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721100"/>
            <a:ext cx="110236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E8B"/>
                </a:solidFill>
                <a:latin typeface="Microsoft YaHei"/>
                <a:ea typeface="Microsoft YaHei"/>
              </a:rPr>
              <a:t>https://arxiv.org/abs/2306.05685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064000"/>
            <a:ext cx="110236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D45"/>
                </a:solidFill>
                <a:latin typeface="Microsoft YaHei"/>
                <a:ea typeface="Microsoft YaHei"/>
              </a:rPr>
              <a:t>[R2] AdvJudge-Zero v3  ·  Binary Decision Flips in LLM-as-a-Judge via Adversarial Control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406900"/>
            <a:ext cx="110236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E8B"/>
                </a:solidFill>
                <a:latin typeface="Microsoft YaHei"/>
                <a:ea typeface="Microsoft YaHei"/>
              </a:rPr>
              <a:t>https://arxiv.org/html/2512.17375v3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49800"/>
            <a:ext cx="110236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D45"/>
                </a:solidFill>
                <a:latin typeface="Microsoft YaHei"/>
                <a:ea typeface="Microsoft YaHei"/>
              </a:rPr>
              <a:t>[R3] Yang et al. (2026)  ·  Turning Bias into Bugs: Bandit-Guided Style Manipulation Attacks on LLM Judges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092700"/>
            <a:ext cx="110236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E8B"/>
                </a:solidFill>
                <a:latin typeface="Microsoft YaHei"/>
                <a:ea typeface="Microsoft YaHei"/>
              </a:rPr>
              <a:t>https://arxiv.org/abs/2605.26156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435600"/>
            <a:ext cx="110236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D45"/>
                </a:solidFill>
                <a:latin typeface="Microsoft YaHei"/>
                <a:ea typeface="Microsoft YaHei"/>
              </a:rPr>
              <a:t>[R4] Rafailov et al. (2023)  ·  Direct Preference Optimization: Your Language Model is Secretly a Reward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778500"/>
            <a:ext cx="110236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E8B"/>
                </a:solidFill>
                <a:latin typeface="Microsoft YaHei"/>
                <a:ea typeface="Microsoft YaHei"/>
              </a:rPr>
              <a:t>https://arxiv.org/abs/2305.18290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